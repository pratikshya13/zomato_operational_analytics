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57" r:id="rId4"/>
    <p:sldId id="261" r:id="rId5"/>
    <p:sldId id="262" r:id="rId6"/>
    <p:sldId id="263" r:id="rId7"/>
    <p:sldId id="265" r:id="rId8"/>
    <p:sldId id="264" r:id="rId9"/>
    <p:sldId id="267" r:id="rId10"/>
    <p:sldId id="268" r:id="rId11"/>
    <p:sldId id="287" r:id="rId12"/>
    <p:sldId id="266" r:id="rId13"/>
    <p:sldId id="288" r:id="rId14"/>
    <p:sldId id="290" r:id="rId15"/>
    <p:sldId id="291" r:id="rId16"/>
    <p:sldId id="292" r:id="rId17"/>
    <p:sldId id="293" r:id="rId18"/>
    <p:sldId id="294" r:id="rId19"/>
    <p:sldId id="289" r:id="rId20"/>
    <p:sldId id="295" r:id="rId21"/>
    <p:sldId id="297" r:id="rId22"/>
    <p:sldId id="29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2" autoAdjust="0"/>
    <p:restoredTop sz="94710"/>
  </p:normalViewPr>
  <p:slideViewPr>
    <p:cSldViewPr snapToGrid="0">
      <p:cViewPr varScale="1">
        <p:scale>
          <a:sx n="146" d="100"/>
          <a:sy n="146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5B700-AB69-486A-91AE-9E6B55BD1F7C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6462F-954A-44D8-8E8B-80EC29BBC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24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1F71-AB42-B440-BC0B-3CE0B4CD57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34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Enhance Service Delivery Through Data Insights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6462F-954A-44D8-8E8B-80EC29BBCE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55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1F71-AB42-B440-BC0B-3CE0B4CD57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38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1F71-AB42-B440-BC0B-3CE0B4CD57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8068-86F4-AA2F-CE82-2881B83C0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36A86-095E-9E7F-4FCE-1CDB907E0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9352E-E2B9-9D3B-B4B3-8E5FE111C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53703-3688-CBB9-6BAE-6ADBB640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BFB33-EA8E-C57B-FD43-FDF9CB5B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85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51C53-1FD4-941D-BCD1-6C110F81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09E6-98AD-3E05-2B78-B72288B4C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8C5FE-39AF-58E3-A571-17433796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39BF1-822F-8ED1-8EF3-9C53343F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68E3B-8994-ACCB-C742-AD3EACEA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9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58C9-32E4-8520-7727-57A448FA1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5F3D4-CDAE-A4BC-231B-8A7AEF69D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ED244-892F-1E8D-3F68-D246D72F8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F1A4F-8D24-978C-0846-E567AB37B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F6E30-05B0-E44F-0313-56016675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2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5C5C-116C-A9BC-D323-EBC50B13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ACFE-252C-1373-61B8-7394B0FB8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D5906-D9ED-49D0-20B2-DB24764D7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ED62C-B9BC-6A0A-1034-9677803A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069D1-4E5F-3A46-D3CE-D8B64E4D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DA73F-CA02-DB28-F043-58FF3974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81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FC39-9880-2B8C-B1AB-A89EFAEC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FF08A-1318-EE19-AED0-DFEE1F4E4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5B12F-F12D-419D-0C83-A2DA296A5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BF66D-7D01-C6BA-5F82-057475F6F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182BD1-E210-AF69-8A01-C149F4B27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39193-A4E4-DDA7-DF0B-F8C24ABD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5CD26-C959-36D0-CDF6-525CF3EE0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C58B5-EF1F-5ADC-FCA7-9CEB6EF0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2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E31F-B14C-2FC8-ED5B-70537FC5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FD59D8-D528-863A-FDDD-6AFB2628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035B6-286E-E0C3-67A5-F5D93575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338D9-B005-1EAC-CD16-0378C617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10006-3B51-41ED-7B67-DF5E77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CF3C8-3665-2AC0-D9B6-7C266A65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ACE8E-1B40-6994-4E3D-D4F1F98BC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2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7F84-4742-E122-9D47-BB7C637B5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EE91-1DD3-FA25-3F51-2D10E8912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DF054-FB2E-950E-F45C-EEC7F086F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A1343-6E6E-7084-2D05-76671998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2034-42A4-9752-58C9-521E23047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83BC9-8F0D-D56E-F651-9F333E77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0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EB7F-FB24-9D64-2218-D9106C01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54F1F-25CC-6A14-916A-964713080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D8CE6-3E47-B475-6474-4B99B5EBF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54FFD-A448-1678-B523-C596041B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3EAD6-6726-EF45-884F-925870032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66D8D-E324-D935-BB68-D3A1683D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2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8B42D-7116-CA12-1AC8-6453501B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C0EEF-2AE4-6158-60D6-061F8418D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1F022-2161-E1C2-B7D4-6082B201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38FA7-5070-BDE7-0861-44744682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AAE44-7300-C38F-4D88-C366B78F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D5CCB-129B-9827-3CFA-11A53098B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C713A-44C1-4E6E-DA66-9EEAC24EC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87CE0-2E2A-5418-2F3A-73DE29E4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9118E-7D30-832D-5BB3-6444B4C3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791CC-13B5-281F-7879-B91A8C6C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8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CE9BE-236B-4FE9-5195-6CA03626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76175-C9AC-3947-B502-17DEC44FA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E4C36-F9D4-B826-FD1D-31D489DA9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15331-4D1F-48DB-A5FA-1DF4159A67D9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A353-1191-5EDD-3360-BFA059CC1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DCE8A-6522-3E67-F784-E5598B1F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C022B-68C2-42ED-8500-4CD47CF8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3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3A3D-C154-FF1B-7EC2-FE9196F3A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FD538-81CE-8284-201C-48DF69B48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D9164-5D9B-7914-702F-8B23A564143B}"/>
              </a:ext>
            </a:extLst>
          </p:cNvPr>
          <p:cNvSpPr txBox="1"/>
          <p:nvPr/>
        </p:nvSpPr>
        <p:spPr>
          <a:xfrm>
            <a:off x="114300" y="1031107"/>
            <a:ext cx="40644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u="sng" dirty="0">
                <a:solidFill>
                  <a:srgbClr val="FF00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cs typeface="Calibri" panose="020F0502020204030204" pitchFamily="34" charset="0"/>
              </a:rPr>
              <a:t>Spreadsheet Project</a:t>
            </a:r>
            <a:br>
              <a:rPr lang="en-US" b="1" u="sng" dirty="0">
                <a:solidFill>
                  <a:srgbClr val="FF0000"/>
                </a:solidFill>
              </a:rPr>
            </a:br>
            <a:br>
              <a:rPr lang="en-US" b="1" u="sng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rgbClr val="FF00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Zomato Restaurant </a:t>
            </a:r>
          </a:p>
          <a:p>
            <a:r>
              <a:rPr lang="en-US" sz="2000" b="1" dirty="0">
                <a:solidFill>
                  <a:srgbClr val="FF00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Analysis</a:t>
            </a:r>
            <a:br>
              <a:rPr lang="en-US" sz="2000" b="1" dirty="0">
                <a:solidFill>
                  <a:srgbClr val="FF00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</a:br>
            <a:br>
              <a:rPr lang="en-US" sz="2000" b="1" dirty="0">
                <a:solidFill>
                  <a:srgbClr val="FF00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</a:br>
            <a:r>
              <a:rPr lang="en-US" sz="20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A Data-driven Analysis &amp; Recommendation </a:t>
            </a:r>
          </a:p>
          <a:p>
            <a:endParaRPr lang="en-US" sz="2000" b="1" i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Submitted </a:t>
            </a:r>
            <a:r>
              <a:rPr lang="en-US" b="1" dirty="0"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By – Pratikshya Priyadarshani Patra</a:t>
            </a:r>
            <a:br>
              <a:rPr lang="en-US" b="1" dirty="0"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FF000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  <a:cs typeface="Calibri" panose="020F0502020204030204" pitchFamily="34" charset="0"/>
              </a:rPr>
              <a:t> Date :- 09-06-2026 </a:t>
            </a:r>
            <a:endParaRPr lang="en-US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38E2E0-DA7C-6480-3D0C-5A67B6D6D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874" y="6451347"/>
            <a:ext cx="1708971" cy="406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60F6A-E9B0-8FB3-E66D-55EC5FAC4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808" y="1122364"/>
            <a:ext cx="7019192" cy="415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5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DA79-F2A4-D480-9247-D7AFB9FA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184" y="378069"/>
            <a:ext cx="3932237" cy="1600200"/>
          </a:xfrm>
        </p:spPr>
        <p:txBody>
          <a:bodyPr numCol="1" anchor="ctr">
            <a:normAutofit/>
          </a:bodyPr>
          <a:lstStyle/>
          <a:p>
            <a:r>
              <a:rPr lang="en-US" sz="2400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What is </a:t>
            </a:r>
            <a:r>
              <a:rPr lang="en-US" sz="24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Zomato</a:t>
            </a:r>
            <a:r>
              <a:rPr lang="en-US" sz="2400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 &amp; how does it work?</a:t>
            </a:r>
            <a:endParaRPr lang="en-US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712C5-6CBD-D828-AD3B-09435774E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US" sz="1400" dirty="0">
                <a:latin typeface="Bookman Old Style" panose="02050604050505020204" pitchFamily="18" charset="0"/>
              </a:rPr>
              <a:t>Zomato is a highly popular and user-friendly platform that helps people discover nearby restaurants and cafés for dining out or ordering food online.</a:t>
            </a:r>
            <a:br>
              <a:rPr lang="en-US" sz="1400" dirty="0">
                <a:latin typeface="Bookman Old Style" panose="02050604050505020204" pitchFamily="18" charset="0"/>
              </a:rPr>
            </a:br>
            <a:br>
              <a:rPr lang="en-US" sz="1400" dirty="0">
                <a:latin typeface="Bookman Old Style" panose="02050604050505020204" pitchFamily="18" charset="0"/>
              </a:rPr>
            </a:br>
            <a:r>
              <a:rPr lang="en-US" sz="1400" dirty="0">
                <a:latin typeface="Bookman Old Style" panose="02050604050505020204" pitchFamily="18" charset="0"/>
              </a:rPr>
              <a:t>The company was founded in 2008 by Deepinder Goyal. </a:t>
            </a:r>
            <a:br>
              <a:rPr lang="en-US" sz="1400" dirty="0">
                <a:latin typeface="Bookman Old Style" panose="02050604050505020204" pitchFamily="18" charset="0"/>
              </a:rPr>
            </a:br>
            <a:br>
              <a:rPr lang="en-US" sz="1400" dirty="0">
                <a:latin typeface="Bookman Old Style" panose="02050604050505020204" pitchFamily="18" charset="0"/>
              </a:rPr>
            </a:br>
            <a:r>
              <a:rPr lang="en-US" sz="1400" dirty="0">
                <a:latin typeface="Bookman Old Style" panose="02050604050505020204" pitchFamily="18" charset="0"/>
              </a:rPr>
              <a:t>Zomato follows a simple and efficient working model. To enjoy a tasty meal, customers just need to follow five easy steps. 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Its main purpose is to recommend local eateries and enable customers to conveniently place food orders.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F5CBFD3-9FE5-5788-3A2D-AEC837A2E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6549756"/>
            <a:ext cx="1295400" cy="308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AEB821-46BA-22F0-FF8E-83CA3F2A9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4" y="700057"/>
            <a:ext cx="7237383" cy="516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0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92C7-68A8-AB69-592B-A5A28F9F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79" y="0"/>
            <a:ext cx="5412921" cy="8806543"/>
          </a:xfrm>
        </p:spPr>
        <p:txBody>
          <a:bodyPr>
            <a:normAutofit fontScale="90000"/>
          </a:bodyPr>
          <a:lstStyle/>
          <a:p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Step 1: Restaurant Discovery </a:t>
            </a:r>
            <a:b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</a:br>
            <a:b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  <a:t>:- </a:t>
            </a:r>
            <a:r>
              <a:rPr lang="en-US" sz="1600" dirty="0">
                <a:latin typeface="Bookman Old Style" panose="02050604050505020204" pitchFamily="18" charset="0"/>
              </a:rPr>
              <a:t>Users browse and select restaurants through the Zomato app or website. They can explore menus, ratings, and food options before choosing a restaurant.</a:t>
            </a:r>
            <a:br>
              <a:rPr lang="en-US" sz="1600" dirty="0">
                <a:latin typeface="Bookman Old Style" panose="02050604050505020204" pitchFamily="18" charset="0"/>
              </a:rPr>
            </a:br>
            <a:br>
              <a:rPr lang="en-US" sz="1600" dirty="0"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Step 2: Placing the Order </a:t>
            </a:r>
            <a:b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</a:br>
            <a:b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  <a:t>:-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After selecting the restaurant, customers add food items to their cart, confirm the order, and make payment (online or cash on delivery).</a:t>
            </a:r>
            <a:br>
              <a:rPr lang="en-US" sz="1600" dirty="0">
                <a:latin typeface="Bookman Old Style" panose="02050604050505020204" pitchFamily="18" charset="0"/>
              </a:rPr>
            </a:br>
            <a:br>
              <a:rPr lang="en-US" sz="1600" dirty="0"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Step 3: Restaurant Preparation</a:t>
            </a:r>
            <a:br>
              <a:rPr lang="en-US" sz="1600" b="1" dirty="0">
                <a:latin typeface="Bookman Old Style" panose="02050604050505020204" pitchFamily="18" charset="0"/>
              </a:rPr>
            </a:br>
            <a:br>
              <a:rPr lang="en-US" sz="1600" b="1" dirty="0"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  <a:t>:- </a:t>
            </a:r>
            <a:r>
              <a:rPr lang="en-US" sz="1600" dirty="0">
                <a:latin typeface="Bookman Old Style" panose="02050604050505020204" pitchFamily="18" charset="0"/>
              </a:rPr>
              <a:t>The restaurant receives the order and starts preparing the selected dishes. </a:t>
            </a:r>
            <a:br>
              <a:rPr lang="en-US" sz="1600" dirty="0">
                <a:latin typeface="Bookman Old Style" panose="02050604050505020204" pitchFamily="18" charset="0"/>
              </a:rPr>
            </a:br>
            <a:br>
              <a:rPr lang="en-US" sz="1600" dirty="0"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Step 4: Delivery to Customer </a:t>
            </a:r>
            <a:b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</a:br>
            <a:b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  <a:t>:- </a:t>
            </a:r>
            <a:r>
              <a:rPr lang="en-US" sz="1600" dirty="0">
                <a:latin typeface="Bookman Old Style" panose="02050604050505020204" pitchFamily="18" charset="0"/>
              </a:rPr>
              <a:t>Once the food is ready, a delivery partner picks it up and delivers it to the customer’s location.</a:t>
            </a:r>
            <a:br>
              <a:rPr lang="en-US" sz="1600" dirty="0">
                <a:latin typeface="Bookman Old Style" panose="02050604050505020204" pitchFamily="18" charset="0"/>
              </a:rPr>
            </a:br>
            <a:br>
              <a:rPr lang="en-US" sz="1600" dirty="0"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Step 5: Payment &amp; Feedback </a:t>
            </a:r>
            <a:b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</a:br>
            <a:b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</a:br>
            <a:r>
              <a:rPr lang="en-US" sz="1600" b="1" dirty="0">
                <a:solidFill>
                  <a:schemeClr val="accent1"/>
                </a:solidFill>
                <a:latin typeface="Bookman Old Style" panose="02050604050505020204" pitchFamily="18" charset="0"/>
              </a:rPr>
              <a:t>:- </a:t>
            </a:r>
            <a:r>
              <a:rPr lang="en-US" sz="1600" dirty="0">
                <a:latin typeface="Bookman Old Style" panose="02050604050505020204" pitchFamily="18" charset="0"/>
              </a:rPr>
              <a:t>After receiving the order, customers can complete payment (if not prepaid) and provide ratings and feedback based on their experience.</a:t>
            </a:r>
            <a:br>
              <a:rPr lang="en-US" sz="1600" dirty="0">
                <a:latin typeface="Bookman Old Style" panose="02050604050505020204" pitchFamily="18" charset="0"/>
              </a:rPr>
            </a:br>
            <a:br>
              <a:rPr lang="en-US" sz="1600" b="1" dirty="0">
                <a:latin typeface="Bookman Old Style" panose="02050604050505020204" pitchFamily="18" charset="0"/>
              </a:rPr>
            </a:br>
            <a:br>
              <a:rPr lang="en-US" sz="2000" b="1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21A728-3597-DE57-4E38-B94F518A4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808" y="6389914"/>
            <a:ext cx="1533513" cy="3649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FB213F-9B76-950F-20B2-0CF5B296C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62708"/>
            <a:ext cx="6638192" cy="567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78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8376-6818-EE91-26DB-36185914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Zomato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28A4-D603-F1F5-101F-CD4B7FFF9A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Zomato Dataset</a:t>
            </a:r>
            <a:r>
              <a:rPr lang="en-US" sz="1600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  </a:t>
            </a:r>
            <a:endParaRPr lang="en-US" sz="1600" dirty="0">
              <a:latin typeface="Bookman Old Style" panose="02050604050505020204" pitchFamily="18" charset="0"/>
            </a:endParaRPr>
          </a:p>
          <a:p>
            <a:r>
              <a:rPr lang="en-US" sz="1600" dirty="0">
                <a:latin typeface="Bookman Old Style" panose="02050604050505020204" pitchFamily="18" charset="0"/>
              </a:rPr>
              <a:t>Contains approximately 9,000 restaurants across multiple cities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Covers 15 major cities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Includes over 100 types of cuisines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Average cost for two ranges between ₹300 and ₹2,500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Online delivery option available (Yes/No)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Table booking facility available in selected restaurants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Ratings range from 1.0 to 5.0 (based on customer feedback) </a:t>
            </a:r>
          </a:p>
          <a:p>
            <a:pPr marL="0" indent="0">
              <a:buNone/>
            </a:pPr>
            <a:endParaRPr lang="en-US" sz="2000" u="sng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CFC0B-8287-AFFF-ED0A-24BCEE72AF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6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Data Cleaning &amp; Preprocessing Performed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Removed duplicate restaurant records 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Handled missing values in rating and cost columns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Standardized city and cuisine names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Converted the cost column into numeric format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Eliminated invalid or zero ratings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96F01A-4AC0-3D83-86F3-C0321DD63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92875"/>
            <a:ext cx="1504950" cy="35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8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F6521620-5E42-B357-E588-112009532B79}"/>
              </a:ext>
            </a:extLst>
          </p:cNvPr>
          <p:cNvSpPr/>
          <p:nvPr/>
        </p:nvSpPr>
        <p:spPr>
          <a:xfrm>
            <a:off x="2525486" y="685800"/>
            <a:ext cx="5301343" cy="4354285"/>
          </a:xfrm>
          <a:prstGeom prst="flowChartDecisi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00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E93C6F-ADBE-D21B-03BF-CBE252D4FCF8}"/>
              </a:ext>
            </a:extLst>
          </p:cNvPr>
          <p:cNvSpPr/>
          <p:nvPr/>
        </p:nvSpPr>
        <p:spPr>
          <a:xfrm>
            <a:off x="2775857" y="870857"/>
            <a:ext cx="1970314" cy="17634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GB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Problem Statement</a:t>
            </a:r>
            <a:endParaRPr lang="en-IN" sz="24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B557BB-1AA3-8DC8-C8EF-11EE6E079969}"/>
              </a:ext>
            </a:extLst>
          </p:cNvPr>
          <p:cNvSpPr/>
          <p:nvPr/>
        </p:nvSpPr>
        <p:spPr>
          <a:xfrm>
            <a:off x="5301343" y="870857"/>
            <a:ext cx="1970314" cy="17634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GB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Objects Of Project</a:t>
            </a:r>
            <a:endParaRPr lang="en-IN" sz="24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2858AC-CA0A-895D-3E18-D0377520E2D3}"/>
              </a:ext>
            </a:extLst>
          </p:cNvPr>
          <p:cNvSpPr/>
          <p:nvPr/>
        </p:nvSpPr>
        <p:spPr>
          <a:xfrm>
            <a:off x="2775857" y="2955471"/>
            <a:ext cx="1970314" cy="17634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Data Description &amp; Methodology</a:t>
            </a:r>
            <a:endParaRPr lang="en-IN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4CDE2A-BE77-46DD-0F19-0F7B839C9F51}"/>
              </a:ext>
            </a:extLst>
          </p:cNvPr>
          <p:cNvSpPr/>
          <p:nvPr/>
        </p:nvSpPr>
        <p:spPr>
          <a:xfrm>
            <a:off x="5301343" y="2955471"/>
            <a:ext cx="1970314" cy="1763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Bookman Old Style" panose="02050604050505020204" pitchFamily="18" charset="0"/>
              </a:rPr>
              <a:t>Key Metrics &amp; Visualisation</a:t>
            </a:r>
            <a:endParaRPr lang="en-IN" sz="2000" b="1" dirty="0">
              <a:latin typeface="Bookman Old Style" panose="020506040505050202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71ED4C6-21ED-27E5-592A-499FEA1C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201839"/>
            <a:ext cx="1937657" cy="669018"/>
          </a:xfrm>
        </p:spPr>
        <p:txBody>
          <a:bodyPr>
            <a:normAutofit fontScale="90000"/>
          </a:bodyPr>
          <a:lstStyle/>
          <a:p>
            <a:r>
              <a:rPr lang="en-US" sz="36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Agenda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428986-B975-F474-CBEF-9A1683432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170" y="6562061"/>
            <a:ext cx="1243693" cy="29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3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76EA4B-7B52-051C-F2D0-295902D5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830317"/>
            <a:ext cx="3941379" cy="1250731"/>
          </a:xfrm>
        </p:spPr>
        <p:txBody>
          <a:bodyPr>
            <a:noAutofit/>
          </a:bodyPr>
          <a:lstStyle/>
          <a:p>
            <a:r>
              <a:rPr lang="en-US" sz="28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Problem Statement</a:t>
            </a:r>
            <a:b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</a:br>
            <a:endParaRPr 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057E6-D693-B377-B983-D55C32FD2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90688"/>
            <a:ext cx="5257800" cy="4486275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Zomato aims to broaden its market reach by identifying potential strategic locations for launching new restaurants. This project applies data-driven analysis to recommend the most suitable areas for expansion, considering key factors such as customer ratings, pricing levels, number of votes, and popular cuisines.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15CE64-5D84-1791-C83A-A48C388DE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99894"/>
            <a:ext cx="1504950" cy="35810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22E512-4979-138F-15B0-309EA5F0FF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230902"/>
            <a:ext cx="5037083" cy="4486275"/>
          </a:xfrm>
        </p:spPr>
      </p:pic>
    </p:spTree>
    <p:extLst>
      <p:ext uri="{BB962C8B-B14F-4D97-AF65-F5344CB8AC3E}">
        <p14:creationId xmlns:p14="http://schemas.microsoft.com/office/powerpoint/2010/main" val="2763868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FA11CB3A-9DDF-A63A-D54F-46FAE631B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6" y="1492469"/>
            <a:ext cx="10821027" cy="431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3E2F2FBC-5FBD-0EE5-DBF9-6F1A5D334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1-7F47-EDBF-AC8B-3E07DCFD100D}"/>
              </a:ext>
            </a:extLst>
          </p:cNvPr>
          <p:cNvSpPr/>
          <p:nvPr/>
        </p:nvSpPr>
        <p:spPr>
          <a:xfrm>
            <a:off x="789948" y="651641"/>
            <a:ext cx="10230978" cy="1140088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buFont typeface="Wingdings" pitchFamily="2" charset="2"/>
              <a:buChar char="Ø"/>
            </a:pPr>
            <a:r>
              <a:rPr lang="en-IN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You are hired as a consultant data analyst by Zomato where the team is looking   for expansion and opening more restaurants. Your task is to develop strategies/suggestions for opening newer restaurants. </a:t>
            </a:r>
          </a:p>
        </p:txBody>
      </p:sp>
    </p:spTree>
    <p:extLst>
      <p:ext uri="{BB962C8B-B14F-4D97-AF65-F5344CB8AC3E}">
        <p14:creationId xmlns:p14="http://schemas.microsoft.com/office/powerpoint/2010/main" val="392954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308C-53FB-2B36-2C3C-79A979A7B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807"/>
            <a:ext cx="10515600" cy="870881"/>
          </a:xfrm>
        </p:spPr>
        <p:txBody>
          <a:bodyPr/>
          <a:lstStyle/>
          <a:p>
            <a:pPr algn="ctr"/>
            <a:r>
              <a:rPr lang="en-GB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Objective Of Project</a:t>
            </a:r>
            <a:endParaRPr lang="en-US" i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324C9-37E3-6D5C-6061-9C24148700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700" dirty="0">
                <a:latin typeface="Bookman Old Style" panose="02050604050505020204" pitchFamily="18" charset="0"/>
              </a:rPr>
              <a:t>Identify Potential Countries for Expansion.  </a:t>
            </a:r>
          </a:p>
          <a:p>
            <a:r>
              <a:rPr lang="en-US" sz="1700" dirty="0">
                <a:latin typeface="Bookman Old Style" panose="02050604050505020204" pitchFamily="18" charset="0"/>
              </a:rPr>
              <a:t>Analyze Market Patterns and Trends.</a:t>
            </a:r>
          </a:p>
          <a:p>
            <a:r>
              <a:rPr lang="en-US" sz="1700" dirty="0">
                <a:latin typeface="Bookman Old Style" panose="02050604050505020204" pitchFamily="18" charset="0"/>
              </a:rPr>
              <a:t>Examine Restaurant Distribution.</a:t>
            </a:r>
          </a:p>
          <a:p>
            <a:r>
              <a:rPr lang="en-US" sz="1700" dirty="0">
                <a:latin typeface="Bookman Old Style" panose="02050604050505020204" pitchFamily="18" charset="0"/>
              </a:rPr>
              <a:t>Evaluate Customer Feedback and Satisfaction Levels.</a:t>
            </a:r>
          </a:p>
          <a:p>
            <a:r>
              <a:rPr lang="en-US" sz="1700" dirty="0">
                <a:latin typeface="Bookman Old Style" panose="02050604050505020204" pitchFamily="18" charset="0"/>
              </a:rPr>
              <a:t>Assess Pricing Strategies.</a:t>
            </a:r>
          </a:p>
          <a:p>
            <a:r>
              <a:rPr lang="en-US" sz="1700" dirty="0">
                <a:latin typeface="Bookman Old Style" panose="02050604050505020204" pitchFamily="18" charset="0"/>
              </a:rPr>
              <a:t>Enhance Service Delivery Through Data Insights.</a:t>
            </a:r>
            <a:br>
              <a:rPr lang="en-US" sz="1700" dirty="0">
                <a:latin typeface="Bookman Old Style" panose="02050604050505020204" pitchFamily="18" charset="0"/>
              </a:rPr>
            </a:br>
            <a:br>
              <a:rPr lang="en-US" sz="1700" dirty="0">
                <a:latin typeface="Bookman Old Style" panose="02050604050505020204" pitchFamily="18" charset="0"/>
              </a:rPr>
            </a:br>
            <a:br>
              <a:rPr lang="en-US" sz="2400" dirty="0"/>
            </a:b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6E2B98-B3C7-97A1-E8BF-0638506CA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125" y="6492875"/>
            <a:ext cx="1657349" cy="394369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A0E93B5-BE09-12A4-7597-0AED50847D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08" y="1825625"/>
            <a:ext cx="5181600" cy="3688779"/>
          </a:xfrm>
        </p:spPr>
      </p:pic>
    </p:spTree>
    <p:extLst>
      <p:ext uri="{BB962C8B-B14F-4D97-AF65-F5344CB8AC3E}">
        <p14:creationId xmlns:p14="http://schemas.microsoft.com/office/powerpoint/2010/main" val="73981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EEC2CF-A15D-317F-3AD2-8DB4C13A0824}"/>
              </a:ext>
            </a:extLst>
          </p:cNvPr>
          <p:cNvSpPr txBox="1"/>
          <p:nvPr/>
        </p:nvSpPr>
        <p:spPr>
          <a:xfrm>
            <a:off x="5361401" y="1101098"/>
            <a:ext cx="6408247" cy="40318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Has_Table_booking: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</a:rPr>
              <a:t>Indicates whether the restaurant has a table booking option (Yes/No). </a:t>
            </a:r>
            <a:endParaRPr lang="en-US" sz="16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Has_Online_delivery: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</a:rPr>
              <a:t>Indicates whether the restaurant offers online delivery (Yes/No). </a:t>
            </a:r>
            <a:endParaRPr lang="en-US" sz="16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Is_delivering_now: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</a:rPr>
              <a:t>Indicates whether the restaurant is currently delivering (Yes/No). </a:t>
            </a:r>
            <a:endParaRPr lang="en-US" sz="16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Switch_to_order_menu: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</a:rPr>
              <a:t>Indicates whether users can switch to the order menu (Yes/No). </a:t>
            </a:r>
            <a:endParaRPr lang="en-US" sz="16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Price_range: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</a:rPr>
              <a:t>A numeric value indicating the price range category of the restaurant. </a:t>
            </a:r>
            <a:endParaRPr lang="en-US" sz="16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Votes: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number of votes or ratings/(feedback) received by the restaurant. </a:t>
            </a:r>
            <a:endParaRPr lang="en-US" sz="16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Average_Cost_for_two: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average cost for two people dining at the restaurant. </a:t>
            </a:r>
            <a:endParaRPr lang="en-US" sz="16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Rating: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overall rating of the restaurant is based on user reviews. </a:t>
            </a:r>
            <a:endParaRPr lang="en-US" sz="16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4B75C-AE1B-C601-9F38-44F7B33E3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621" y="934136"/>
            <a:ext cx="4561489" cy="575542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32500" lnSpcReduction="20000"/>
          </a:bodyPr>
          <a:lstStyle/>
          <a:p>
            <a:pPr fontAlgn="base"/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Restaurant ID: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Unique identifier for each restaurant. 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Restaurant Name: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name of the restaurant.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CountryCode: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Country code of the location where the restaurant is situated.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City: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city where the restaurant is located.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Address: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specific address of the restaurant.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Locality: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locality or neighborhood where the restaurant is situated.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Locality Verbose: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Detailed information about the locality.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Longitude: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geographical longitude coordinate of the restaurant.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Latitude: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geographical latitude coordinate of the restaurant.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Cuisines: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type of cuisine offered by the restaurant. </a:t>
            </a:r>
            <a:endParaRPr lang="en-US" sz="43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Currency: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currency used for transactions in the restaurant. 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4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Datekey_opening:</a:t>
            </a:r>
            <a:r>
              <a:rPr lang="en-US" sz="4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4300" dirty="0">
                <a:solidFill>
                  <a:srgbClr val="000000"/>
                </a:solidFill>
                <a:latin typeface="Bookman Old Style" panose="02050604050505020204" pitchFamily="18" charset="0"/>
              </a:rPr>
              <a:t>The date when the restaurant was opened. </a:t>
            </a:r>
          </a:p>
          <a:p>
            <a:pPr fontAlgn="base"/>
            <a:endParaRPr lang="en-US" sz="2100" b="1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15" name="Picture 14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28B125B2-110E-A80B-66AB-CC50FDF0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18ADB7-9215-5ED9-7235-4BF37F04B41D}"/>
              </a:ext>
            </a:extLst>
          </p:cNvPr>
          <p:cNvSpPr/>
          <p:nvPr/>
        </p:nvSpPr>
        <p:spPr>
          <a:xfrm>
            <a:off x="1639615" y="378371"/>
            <a:ext cx="5927833" cy="5557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+mj-lt"/>
              </a:rPr>
              <a:t>                   </a:t>
            </a:r>
            <a:r>
              <a:rPr lang="en-US" sz="3200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Data Overview </a:t>
            </a:r>
            <a:endParaRPr lang="en-IN" sz="3200" i="1" u="sng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7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2B1E4D-309F-2285-3F8F-2E1093A7B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847433"/>
              </p:ext>
            </p:extLst>
          </p:nvPr>
        </p:nvGraphicFramePr>
        <p:xfrm>
          <a:off x="950495" y="1780675"/>
          <a:ext cx="9817768" cy="3542919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908884">
                  <a:extLst>
                    <a:ext uri="{9D8B030D-6E8A-4147-A177-3AD203B41FA5}">
                      <a16:colId xmlns:a16="http://schemas.microsoft.com/office/drawing/2014/main" val="4160803688"/>
                    </a:ext>
                  </a:extLst>
                </a:gridCol>
                <a:gridCol w="4908884">
                  <a:extLst>
                    <a:ext uri="{9D8B030D-6E8A-4147-A177-3AD203B41FA5}">
                      <a16:colId xmlns:a16="http://schemas.microsoft.com/office/drawing/2014/main" val="2574215398"/>
                    </a:ext>
                  </a:extLst>
                </a:gridCol>
              </a:tblGrid>
              <a:tr h="45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Total Restaurants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  <a:p>
                      <a:pPr algn="l"/>
                      <a:endParaRPr lang="en-US" sz="2000" b="1" i="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9552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477955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Total Countries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022488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Total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023733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Total cuisines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1819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040261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Service offered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Online Booking, Table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161665"/>
                  </a:ext>
                </a:extLst>
              </a:tr>
              <a:tr h="559784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Average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2.89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58047"/>
                  </a:ext>
                </a:extLst>
              </a:tr>
              <a:tr h="456419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FF0000"/>
                          </a:solidFill>
                          <a:latin typeface="Bookman Old Style" panose="02050604050505020204" pitchFamily="18" charset="0"/>
                        </a:rPr>
                        <a:t>Average price in 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Bookman Old Style" panose="02050604050505020204" pitchFamily="18" charset="0"/>
                        </a:rPr>
                        <a:t>₹903</a:t>
                      </a:r>
                      <a:endParaRPr lang="en-US" sz="2000" b="1" i="0" dirty="0">
                        <a:solidFill>
                          <a:srgbClr val="FF0000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374084"/>
                  </a:ext>
                </a:extLst>
              </a:tr>
            </a:tbl>
          </a:graphicData>
        </a:graphic>
      </p:graphicFrame>
      <p:pic>
        <p:nvPicPr>
          <p:cNvPr id="9" name="Picture 8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91F45AE1-21BF-8129-FC24-5D4E59827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BA1E40-C49E-BB90-52B2-1997C056E24B}"/>
              </a:ext>
            </a:extLst>
          </p:cNvPr>
          <p:cNvSpPr/>
          <p:nvPr/>
        </p:nvSpPr>
        <p:spPr>
          <a:xfrm>
            <a:off x="3850105" y="432486"/>
            <a:ext cx="3777916" cy="9020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z="3200" b="1" dirty="0">
                <a:solidFill>
                  <a:srgbClr val="C00000"/>
                </a:solidFill>
                <a:latin typeface="+mj-lt"/>
              </a:rPr>
              <a:t>        </a:t>
            </a:r>
            <a:r>
              <a:rPr lang="en-US" sz="2400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Data Snapshot</a:t>
            </a:r>
            <a:r>
              <a:rPr lang="en-US" sz="2400" b="1" i="1" u="sng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endParaRPr lang="en-IN" sz="2400" b="1" i="1" u="sng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5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6EF0-4C89-956C-2DCB-92C1CEC0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825" y="-85392"/>
            <a:ext cx="3932237" cy="1074404"/>
          </a:xfrm>
        </p:spPr>
        <p:txBody>
          <a:bodyPr/>
          <a:lstStyle/>
          <a:p>
            <a:r>
              <a:rPr lang="en-US" i="1" dirty="0">
                <a:latin typeface="Bookman Old Style" panose="02050604050505020204" pitchFamily="18" charset="0"/>
              </a:rPr>
              <a:t>                                                        </a:t>
            </a:r>
            <a:r>
              <a:rPr lang="en-US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2C8E4-B721-A8C2-C2B8-A1D62E421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32547"/>
            <a:ext cx="9615654" cy="413644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Data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man Old Style" panose="02050604050505020204" pitchFamily="18" charset="0"/>
              </a:rPr>
              <a:t>Resolved missing values in the </a:t>
            </a:r>
            <a:r>
              <a:rPr lang="en-US" sz="1400" i="1" dirty="0">
                <a:latin typeface="Bookman Old Style" panose="02050604050505020204" pitchFamily="18" charset="0"/>
              </a:rPr>
              <a:t>Cuisines</a:t>
            </a:r>
            <a:r>
              <a:rPr lang="en-US" sz="1400" dirty="0">
                <a:latin typeface="Bookman Old Style" panose="02050604050505020204" pitchFamily="18" charset="0"/>
              </a:rPr>
              <a:t> column to ensure data accuracy and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man Old Style" panose="02050604050505020204" pitchFamily="18" charset="0"/>
              </a:rPr>
              <a:t>Removed irrelevant and redundant columns to streamline the dataset for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Data Enrichment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man Old Style" panose="02050604050505020204" pitchFamily="18" charset="0"/>
              </a:rPr>
              <a:t>Augmented the dataset by adding country names using the </a:t>
            </a:r>
            <a:r>
              <a:rPr lang="en-US" sz="1400" b="1" dirty="0">
                <a:latin typeface="Bookman Old Style" panose="02050604050505020204" pitchFamily="18" charset="0"/>
              </a:rPr>
              <a:t>VLOOKUP</a:t>
            </a:r>
            <a:r>
              <a:rPr lang="en-US" sz="1400" dirty="0">
                <a:latin typeface="Bookman Old Style" panose="02050604050505020204" pitchFamily="18" charset="0"/>
              </a:rPr>
              <a:t> function based on the country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man Old Style" panose="02050604050505020204" pitchFamily="18" charset="0"/>
              </a:rPr>
              <a:t>Extracted the year from the Date Key Opening field using text functions to enable time-based trend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Descriptive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ookman Old Style" panose="02050604050505020204" pitchFamily="18" charset="0"/>
              </a:rPr>
              <a:t>Utilized Pivot Tables and Pivot Charts to perform dynamic data summarization and visualization, generating clear, structured, and actionable insights.</a:t>
            </a:r>
          </a:p>
          <a:p>
            <a:br>
              <a:rPr lang="en-US" sz="1400" dirty="0">
                <a:latin typeface="Bookman Old Style" panose="02050604050505020204" pitchFamily="18" charset="0"/>
              </a:rPr>
            </a:br>
            <a:endParaRPr lang="en-US" sz="1400" dirty="0">
              <a:latin typeface="Bookman Old Style" panose="02050604050505020204" pitchFamily="18" charset="0"/>
            </a:endParaRPr>
          </a:p>
          <a:p>
            <a:endParaRPr lang="en-US" dirty="0"/>
          </a:p>
        </p:txBody>
      </p:sp>
      <p:pic>
        <p:nvPicPr>
          <p:cNvPr id="6" name="Picture 5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DBC731B0-ED9C-9557-5733-F81EC27A4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579" y="6270484"/>
            <a:ext cx="121073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5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8814-2E79-B921-88CD-863870F1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>
            <a:normAutofit/>
          </a:bodyPr>
          <a:lstStyle/>
          <a:p>
            <a:pPr algn="r"/>
            <a:r>
              <a:rPr lang="en-US" sz="36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Key Metrics and Visualization</a:t>
            </a:r>
            <a:endParaRPr lang="en-US" sz="36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A50F-21D2-94B9-28D6-F183AC41A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2142" y="150018"/>
            <a:ext cx="1611087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Count of Restaurants</a:t>
            </a:r>
            <a:r>
              <a:rPr lang="en-US" sz="17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A0D74-F84B-8FC2-0838-D101B745A5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500" b="1" dirty="0">
                <a:latin typeface="Bookman Old Style" panose="02050604050505020204" pitchFamily="18" charset="0"/>
              </a:rPr>
              <a:t>Computed the total number of restaurants in each country</a:t>
            </a:r>
            <a:r>
              <a:rPr lang="en-US" sz="1500" dirty="0">
                <a:latin typeface="Bookman Old Style" panose="02050604050505020204" pitchFamily="18" charset="0"/>
              </a:rPr>
              <a:t> to understand market presence and distribution.</a:t>
            </a:r>
          </a:p>
          <a:p>
            <a:r>
              <a:rPr lang="en-US" sz="1500" b="1" dirty="0">
                <a:latin typeface="Bookman Old Style" panose="02050604050505020204" pitchFamily="18" charset="0"/>
              </a:rPr>
              <a:t>Presented the findings using charts and visualizations</a:t>
            </a:r>
            <a:r>
              <a:rPr lang="en-US" sz="1500" dirty="0">
                <a:latin typeface="Bookman Old Style" panose="02050604050505020204" pitchFamily="18" charset="0"/>
              </a:rPr>
              <a:t> to make the insights more clear and easy to interpret.</a:t>
            </a:r>
          </a:p>
          <a:p>
            <a:r>
              <a:rPr lang="en-US" sz="1500" b="1" dirty="0">
                <a:latin typeface="Bookman Old Style" panose="02050604050505020204" pitchFamily="18" charset="0"/>
              </a:rPr>
              <a:t>Based on the analysis, identified Brazil, Sri Lanka, Canada, and Australia as potential markets</a:t>
            </a:r>
            <a:r>
              <a:rPr lang="en-US" sz="1500" dirty="0">
                <a:latin typeface="Bookman Old Style" panose="02050604050505020204" pitchFamily="18" charset="0"/>
              </a:rPr>
              <a:t> with strong opportunities for opening new restaurants</a:t>
            </a:r>
            <a:r>
              <a:rPr lang="en-US" sz="26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189A62-DEB9-F305-EEC7-9FA83BE13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868" y="6492875"/>
            <a:ext cx="1417864" cy="337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1F06C0-9E61-4360-32F2-77586381E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86" y="1690688"/>
            <a:ext cx="5201376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49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897A-FA74-0C95-CB2E-CF02A2F1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57257" cy="1325563"/>
          </a:xfrm>
        </p:spPr>
        <p:txBody>
          <a:bodyPr>
            <a:normAutofit/>
          </a:bodyPr>
          <a:lstStyle/>
          <a:p>
            <a:r>
              <a:rPr lang="en-US" sz="2000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Average number of Voters in each country</a:t>
            </a:r>
            <a:r>
              <a:rPr lang="en-US" sz="20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:</a:t>
            </a:r>
            <a:br>
              <a:rPr lang="en-IN" sz="20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</a:br>
            <a:endParaRPr lang="en-US" sz="2000" i="1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496E4-0B08-3B81-85E8-4D20F5BEC1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400" b="1" dirty="0">
                <a:latin typeface="Bookman Old Style" panose="02050604050505020204" pitchFamily="18" charset="0"/>
              </a:rPr>
              <a:t>Calculated the average number of voters per restaurant for each country</a:t>
            </a:r>
            <a:r>
              <a:rPr lang="en-US" sz="1400" dirty="0">
                <a:latin typeface="Bookman Old Style" panose="02050604050505020204" pitchFamily="18" charset="0"/>
              </a:rPr>
              <a:t> to enable a meaningful comparative analysis of customer engagement levels.</a:t>
            </a:r>
          </a:p>
          <a:p>
            <a:r>
              <a:rPr lang="en-US" sz="1400" b="1" dirty="0">
                <a:latin typeface="Bookman Old Style" panose="02050604050505020204" pitchFamily="18" charset="0"/>
              </a:rPr>
              <a:t>Analyzed voter proportions across countries</a:t>
            </a:r>
            <a:r>
              <a:rPr lang="en-US" sz="1400" dirty="0">
                <a:latin typeface="Bookman Old Style" panose="02050604050505020204" pitchFamily="18" charset="0"/>
              </a:rPr>
              <a:t>, as a higher average number of voters indicates stronger customer interaction and platform engagement.</a:t>
            </a:r>
          </a:p>
          <a:p>
            <a:r>
              <a:rPr lang="en-US" sz="1400" b="1" dirty="0">
                <a:latin typeface="Bookman Old Style" panose="02050604050505020204" pitchFamily="18" charset="0"/>
              </a:rPr>
              <a:t>From the chart analysis, countries such as Indonesia, UAE, and Turkey demonstrated a significant proportion of voter activity</a:t>
            </a:r>
            <a:r>
              <a:rPr lang="en-US" sz="1400" dirty="0">
                <a:latin typeface="Bookman Old Style" panose="02050604050505020204" pitchFamily="18" charset="0"/>
              </a:rPr>
              <a:t>, suggesting higher customer participation in these markets.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F829EE-C552-2896-8180-D298E9BB7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514" y="6463631"/>
            <a:ext cx="1657350" cy="394369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334F8BA-3932-5289-3567-582542BD3E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5048955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21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91A5F-6674-C8D4-27C0-7C5ED939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265-1665-300F-9166-4F31A9E0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57257" cy="1325563"/>
          </a:xfrm>
        </p:spPr>
        <p:txBody>
          <a:bodyPr>
            <a:normAutofit/>
          </a:bodyPr>
          <a:lstStyle/>
          <a:p>
            <a:r>
              <a:rPr lang="en-US" sz="2400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Restaurants opened each year</a:t>
            </a:r>
            <a:r>
              <a:rPr lang="en-US" sz="2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: </a:t>
            </a:r>
            <a:br>
              <a:rPr lang="en-IN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</a:br>
            <a:endParaRPr lang="en-US" sz="2400" i="1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32F90-F64A-DEA1-A025-8FE115E05F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400" b="1" dirty="0">
                <a:latin typeface="Bookman Old Style" panose="02050604050505020204" pitchFamily="18" charset="0"/>
              </a:rPr>
              <a:t>An increase in the number of restaurants indicates stronger consumer participation and market activity.</a:t>
            </a:r>
            <a:endParaRPr lang="en-US" sz="1400" dirty="0">
              <a:latin typeface="Bookman Old Style" panose="02050604050505020204" pitchFamily="18" charset="0"/>
            </a:endParaRPr>
          </a:p>
          <a:p>
            <a:r>
              <a:rPr lang="en-US" sz="1400" b="1" dirty="0">
                <a:latin typeface="Bookman Old Style" panose="02050604050505020204" pitchFamily="18" charset="0"/>
              </a:rPr>
              <a:t>Based on the chart analysis, the years 2011, 2017, and 2018 recorded a notably higher number of restaurant openings</a:t>
            </a:r>
            <a:r>
              <a:rPr lang="en-US" sz="1400" dirty="0">
                <a:latin typeface="Bookman Old Style" panose="02050604050505020204" pitchFamily="18" charset="0"/>
              </a:rPr>
              <a:t>, reflecting heightened customer engagement during these periods.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AAC841-C412-DC17-3BB0-9CE4C7A20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514" y="6463631"/>
            <a:ext cx="1657350" cy="394369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230EDC-53A5-05FD-C5C1-3E62BCBB3A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08" y="1558231"/>
            <a:ext cx="5134692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68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9495-C4A0-5DBC-051C-49BB5FDE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1B4D-6B8C-5829-A7B6-2C4D617F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57257" cy="1325563"/>
          </a:xfrm>
        </p:spPr>
        <p:txBody>
          <a:bodyPr>
            <a:normAutofit/>
          </a:bodyPr>
          <a:lstStyle/>
          <a:p>
            <a:r>
              <a:rPr lang="en-US" sz="2000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Average Rating of Restaurants in each Country:</a:t>
            </a:r>
            <a:r>
              <a:rPr lang="en-US" sz="20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br>
              <a:rPr lang="en-IN" sz="20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Bookman Old Style" panose="02050604050505020204" pitchFamily="18" charset="0"/>
              </a:rPr>
            </a:br>
            <a:endParaRPr lang="en-US" sz="2000" i="1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5C65E-16F1-E157-A604-9B6129E3E3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Analyzing restaurant ratings is essential for designing effective marketing strategies and evaluating overall business performance.</a:t>
            </a: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Countries such as the Philippines and Turkey have higher average ratings, indicating strong market demand and positive customer satisfaction levels.</a:t>
            </a: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In contrast, Canada and Singapore show comparatively lower ratings, highlighting the need for service improvements and strategic adjustments.</a:t>
            </a: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565A9D-BD61-3889-792E-16ECCF229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514" y="6463631"/>
            <a:ext cx="1657350" cy="394369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1580C0-98CB-7298-BE25-2F2BA3579B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24" y="1538957"/>
            <a:ext cx="5668935" cy="38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73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3D3B2-8B74-6D66-F51C-FDE66C82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D54F-08DD-DF3B-FA34-5F7B4C65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57257" cy="1325563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Top 10 Cuisines</a:t>
            </a: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: </a:t>
            </a:r>
            <a:b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37872-E5F4-2760-776B-25464CC2D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514" y="6463631"/>
            <a:ext cx="1657350" cy="39436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38DECF2C-5DC8-330A-BBEC-B5592519A00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422134" y="2131329"/>
            <a:ext cx="480131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North Indian and Chinese cuisines are the most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preferred among customers.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The analysis indicates that North Indian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Chinese cuisines dominate in popularity.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North Indian and Chinese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cuisinese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merge as the leading choices based on customer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preference data.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A3B5DC4-EE23-2763-0488-C39DBEA162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26" y="1858052"/>
            <a:ext cx="5841584" cy="374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53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3D4A-88B0-6782-3908-0399FFBC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2D4A-A940-C9F1-A4D8-41D8D1C4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57257" cy="1325563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Average cost of two INR</a:t>
            </a: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: </a:t>
            </a:r>
            <a:b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491751-23AB-DDA7-2985-D9567D7BF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514" y="6463631"/>
            <a:ext cx="1657350" cy="39436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AFED64D-1B0A-FC2C-9F62-D0615362C00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422134" y="1294176"/>
            <a:ext cx="5160266" cy="3274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Bookman Old Style" panose="02050604050505020204" pitchFamily="18" charset="0"/>
              </a:rPr>
              <a:t>Singapore has the highest average dining cost, making it the most expensive market among the countries analyzed.</a:t>
            </a:r>
            <a:endParaRPr lang="en-US" sz="1400" dirty="0">
              <a:latin typeface="Bookman Old Style" panose="02050604050505020204" pitchFamily="18" charset="0"/>
            </a:endParaRPr>
          </a:p>
          <a:p>
            <a:r>
              <a:rPr lang="en-US" sz="1400" b="1" dirty="0">
                <a:latin typeface="Bookman Old Style" panose="02050604050505020204" pitchFamily="18" charset="0"/>
              </a:rPr>
              <a:t>India and the UAE rank among the most affordable markets, offering comparatively lower average dining expenses.</a:t>
            </a:r>
            <a:endParaRPr lang="en-US" sz="1400" dirty="0">
              <a:latin typeface="Bookman Old Style" panose="02050604050505020204" pitchFamily="18" charset="0"/>
            </a:endParaRPr>
          </a:p>
          <a:p>
            <a:r>
              <a:rPr lang="en-US" sz="1400" b="1" dirty="0">
                <a:latin typeface="Bookman Old Style" panose="02050604050505020204" pitchFamily="18" charset="0"/>
              </a:rPr>
              <a:t>Only Singapore and the Philippines surpass the specified pricing threshold, indicating relatively premium cost levels in these countries.</a:t>
            </a:r>
            <a:endParaRPr lang="en-US" sz="1400" dirty="0">
              <a:latin typeface="Bookman Old Style" panose="02050604050505020204" pitchFamily="18" charset="0"/>
            </a:endParaRPr>
          </a:p>
          <a:p>
            <a:r>
              <a:rPr lang="en-US" sz="1400" b="1" dirty="0">
                <a:latin typeface="Bookman Old Style" panose="02050604050505020204" pitchFamily="18" charset="0"/>
              </a:rPr>
              <a:t>The United Kingdom’s average dining cost is more than twice that of the United States, reflecting substantial pricing differences even between major developed markets.</a:t>
            </a:r>
            <a:endParaRPr lang="en-US" sz="1400" dirty="0"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493B96-1C17-6C84-97B7-D55F952F9C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87706"/>
            <a:ext cx="5739174" cy="369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41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61C0-A705-8781-F973-A2724076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DBA4-13CA-B217-FCC1-D4D7A968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6814"/>
            <a:ext cx="5257800" cy="1219200"/>
          </a:xfrm>
        </p:spPr>
        <p:txBody>
          <a:bodyPr>
            <a:normAutofit/>
          </a:bodyPr>
          <a:lstStyle/>
          <a:p>
            <a:pPr lvl="0"/>
            <a:r>
              <a:rPr lang="en-IN" sz="28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Delivery and Table Booking Analysis</a:t>
            </a:r>
            <a:r>
              <a:rPr lang="en-IN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CCE2BD-53F6-4DE7-92D8-576671A12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514" y="6463631"/>
            <a:ext cx="1657350" cy="39436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FC8C791-95E3-7212-5FF6-403A4ECD43F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422134" y="1649146"/>
            <a:ext cx="5160266" cy="2564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Bookman Old Style" panose="02050604050505020204" pitchFamily="18" charset="0"/>
              </a:rPr>
              <a:t>Restaurants that provide online delivery and table booking tend to have marginally higher average ratings.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Maintaining an online presence helps attract a wider customer base, which can positively influence overall ratings.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To enhance customer satisfaction and improve ratings, new restaurants should consider offering at least one of these services—preferably both table booking and online delivery.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471CE55-5C6E-D3C0-9594-A37B68C454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4" y="1843230"/>
            <a:ext cx="2987748" cy="19274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8008A0-2A57-EAFB-D676-D6A7568F8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238" y="1800009"/>
            <a:ext cx="3089896" cy="201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350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C9EA04-582B-B113-FAB6-79A29032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103" y="265471"/>
            <a:ext cx="4650658" cy="1425217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Recommendations</a:t>
            </a:r>
            <a:r>
              <a:rPr lang="en-US" sz="32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:</a:t>
            </a:r>
            <a:br>
              <a:rPr lang="en-IN" sz="3200" i="1" dirty="0">
                <a:solidFill>
                  <a:srgbClr val="3970A3"/>
                </a:solidFill>
                <a:latin typeface="Bookman Old Style" panose="02050604050505020204" pitchFamily="18" charset="0"/>
              </a:rPr>
            </a:br>
            <a:endParaRPr lang="en-US" sz="3200" i="1" dirty="0">
              <a:latin typeface="Bookman Old Style" panose="020506040505050202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7D91CB-433E-5F49-0B6A-3053701AD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Bookman Old Style" panose="02050604050505020204" pitchFamily="18" charset="0"/>
              </a:rPr>
              <a:t>Concentrate on launching new restaurants in countries that show strong growth potential along with a balanced competitive landscape.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Give preference to markets with a lower number of existing restaurants, as this allows for smoother market entry and reduced competitive pressure.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Leverage restaurant density analysis to identify high-growth areas and strategically important customer locations.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Assess key competitors to develop clear differentiation strategies for new outlets.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Analyze customer feedback and sentiment to uncover improvement opportunities.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Focus on delivering high-quality food at competitive pricing to attract and retain customers.</a:t>
            </a:r>
          </a:p>
          <a:p>
            <a:r>
              <a:rPr lang="en-US" sz="1400" dirty="0">
                <a:latin typeface="Bookman Old Style" panose="02050604050505020204" pitchFamily="18" charset="0"/>
              </a:rPr>
              <a:t>Adopt online delivery and table booking systems to enhance customer satisfaction and improve overall ratings.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F6B805-1365-59E5-EF16-BA68D5792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805" y="6584705"/>
            <a:ext cx="1148531" cy="27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31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98663-7D4D-7F08-B976-3826EDE4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45087D-5B78-DEB9-3EEA-B8A697352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103" y="265471"/>
            <a:ext cx="4650658" cy="1425217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>
                <a:solidFill>
                  <a:srgbClr val="3970A3"/>
                </a:solidFill>
              </a:rPr>
              <a:t> </a:t>
            </a:r>
            <a:r>
              <a:rPr lang="en-US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Conclusion</a:t>
            </a:r>
            <a:r>
              <a:rPr lang="en-US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:</a:t>
            </a:r>
            <a:br>
              <a:rPr lang="en-IN" dirty="0">
                <a:solidFill>
                  <a:srgbClr val="3970A3"/>
                </a:solidFill>
              </a:rPr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F6FEE3-C245-4FCE-3D27-5B9366B0A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Bookman Old Style" panose="02050604050505020204" pitchFamily="18" charset="0"/>
              </a:rPr>
              <a:t>Market Prioritization</a:t>
            </a:r>
            <a:br>
              <a:rPr lang="en-US" sz="1400" dirty="0">
                <a:latin typeface="Bookman Old Style" panose="02050604050505020204" pitchFamily="18" charset="0"/>
              </a:rPr>
            </a:br>
            <a:r>
              <a:rPr lang="en-US" sz="1400" dirty="0">
                <a:latin typeface="Bookman Old Style" panose="02050604050505020204" pitchFamily="18" charset="0"/>
              </a:rPr>
              <a:t>Identify and shortlist countries with high average ratings and lower restaurant density to ensure better entry opportunities.</a:t>
            </a:r>
          </a:p>
          <a:p>
            <a:r>
              <a:rPr lang="en-US" sz="1400" b="1" dirty="0">
                <a:latin typeface="Bookman Old Style" panose="02050604050505020204" pitchFamily="18" charset="0"/>
              </a:rPr>
              <a:t>City-Level Analysis</a:t>
            </a:r>
            <a:br>
              <a:rPr lang="en-US" sz="1400" dirty="0">
                <a:latin typeface="Bookman Old Style" panose="02050604050505020204" pitchFamily="18" charset="0"/>
              </a:rPr>
            </a:br>
            <a:r>
              <a:rPr lang="en-US" sz="1400" dirty="0">
                <a:latin typeface="Bookman Old Style" panose="02050604050505020204" pitchFamily="18" charset="0"/>
              </a:rPr>
              <a:t>Focus on high-performing cities within target countries (such as Sri Lanka and Indonesia) based on ratings, demand, and growth indicators.</a:t>
            </a:r>
          </a:p>
          <a:p>
            <a:r>
              <a:rPr lang="en-US" sz="1400" b="1" dirty="0">
                <a:latin typeface="Bookman Old Style" panose="02050604050505020204" pitchFamily="18" charset="0"/>
              </a:rPr>
              <a:t>Cuisine Strategy Development</a:t>
            </a:r>
            <a:br>
              <a:rPr lang="en-US" sz="1400" dirty="0">
                <a:latin typeface="Bookman Old Style" panose="02050604050505020204" pitchFamily="18" charset="0"/>
              </a:rPr>
            </a:br>
            <a:r>
              <a:rPr lang="en-US" sz="1400" dirty="0">
                <a:latin typeface="Bookman Old Style" panose="02050604050505020204" pitchFamily="18" charset="0"/>
              </a:rPr>
              <a:t>Offer top-performing cuisines—North Indian, Chinese, Fast Food, Café, Bakery, Desserts, and Street Food—to align with customer preferences.</a:t>
            </a:r>
          </a:p>
          <a:p>
            <a:r>
              <a:rPr lang="en-US" sz="1400" b="1" dirty="0">
                <a:latin typeface="Bookman Old Style" panose="02050604050505020204" pitchFamily="18" charset="0"/>
              </a:rPr>
              <a:t>Competitive Positioning</a:t>
            </a:r>
            <a:br>
              <a:rPr lang="en-US" sz="1400" dirty="0">
                <a:latin typeface="Bookman Old Style" panose="02050604050505020204" pitchFamily="18" charset="0"/>
              </a:rPr>
            </a:br>
            <a:r>
              <a:rPr lang="en-US" sz="1400" dirty="0">
                <a:latin typeface="Bookman Old Style" panose="02050604050505020204" pitchFamily="18" charset="0"/>
              </a:rPr>
              <a:t>Analyze existing competitors to create a differentiated value proposition in terms of quality, pricing, and service.</a:t>
            </a:r>
          </a:p>
          <a:p>
            <a:r>
              <a:rPr lang="en-US" sz="1400" b="1" dirty="0">
                <a:latin typeface="Bookman Old Style" panose="02050604050505020204" pitchFamily="18" charset="0"/>
              </a:rPr>
              <a:t>Customer-Centric Operations</a:t>
            </a:r>
            <a:br>
              <a:rPr lang="en-US" sz="1400" dirty="0">
                <a:latin typeface="Bookman Old Style" panose="02050604050505020204" pitchFamily="18" charset="0"/>
              </a:rPr>
            </a:br>
            <a:r>
              <a:rPr lang="en-US" sz="1400" dirty="0">
                <a:latin typeface="Bookman Old Style" panose="02050604050505020204" pitchFamily="18" charset="0"/>
              </a:rPr>
              <a:t>Ensure high food quality, competitive pricing, and strong digital presence (online delivery and table booking) to maximize satisfaction and ratings.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FB632-7659-BA2E-9140-A1FFE85B8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805" y="6584705"/>
            <a:ext cx="1148531" cy="27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18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998F23-5ECD-88BD-F333-FC42F5045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54" y="1039733"/>
            <a:ext cx="10354491" cy="477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26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0B210-2BBD-C223-7DA2-55F59482F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48033" y="2310061"/>
            <a:ext cx="8936167" cy="3053599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rgbClr val="3970A3"/>
                </a:solidFill>
              </a:rPr>
              <a:t>      </a:t>
            </a:r>
            <a:r>
              <a:rPr lang="en-US" sz="7200" dirty="0">
                <a:solidFill>
                  <a:srgbClr val="FF0000"/>
                </a:solidFill>
              </a:rPr>
              <a:t>   </a:t>
            </a:r>
            <a:endParaRPr lang="en-US" sz="72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78F6F-9938-17A1-DE4F-B93DE59D9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38" y="835269"/>
            <a:ext cx="10181493" cy="5081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CED7C0-6AFE-CE7D-54BD-CCEA8510F002}"/>
              </a:ext>
            </a:extLst>
          </p:cNvPr>
          <p:cNvSpPr txBox="1"/>
          <p:nvPr/>
        </p:nvSpPr>
        <p:spPr>
          <a:xfrm>
            <a:off x="4967654" y="6040315"/>
            <a:ext cx="2039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06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1656</Words>
  <Application>Microsoft Macintosh PowerPoint</Application>
  <PresentationFormat>Widescreen</PresentationFormat>
  <Paragraphs>139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Bookman Old Style</vt:lpstr>
      <vt:lpstr>Calibri</vt:lpstr>
      <vt:lpstr>Calibri Light</vt:lpstr>
      <vt:lpstr>Wingdings</vt:lpstr>
      <vt:lpstr>Office Theme</vt:lpstr>
      <vt:lpstr>PowerPoint Presentation</vt:lpstr>
      <vt:lpstr>What is Zomato &amp; how does it work?</vt:lpstr>
      <vt:lpstr>   Step 1: Restaurant Discovery   :- Users browse and select restaurants through the Zomato app or website. They can explore menus, ratings, and food options before choosing a restaurant.  Step 2: Placing the Order   :-  After selecting the restaurant, customers add food items to their cart, confirm the order, and make payment (online or cash on delivery).  Step 3: Restaurant Preparation  :- The restaurant receives the order and starts preparing the selected dishes.   Step 4: Delivery to Customer   :- Once the food is ready, a delivery partner picks it up and delivers it to the customer’s location.  Step 5: Payment &amp; Feedback   :- After receiving the order, customers can complete payment (if not prepaid) and provide ratings and feedback based on their experience.           </vt:lpstr>
      <vt:lpstr>Zomato Project</vt:lpstr>
      <vt:lpstr>Agenda.</vt:lpstr>
      <vt:lpstr>Problem Statement </vt:lpstr>
      <vt:lpstr>PowerPoint Presentation</vt:lpstr>
      <vt:lpstr>Objective Of Project</vt:lpstr>
      <vt:lpstr>PowerPoint Presentation</vt:lpstr>
      <vt:lpstr>PowerPoint Presentation</vt:lpstr>
      <vt:lpstr>                                                        Methodology</vt:lpstr>
      <vt:lpstr>Key Metrics and Visualization</vt:lpstr>
      <vt:lpstr>Average number of Voters in each country: </vt:lpstr>
      <vt:lpstr>Restaurants opened each year:  </vt:lpstr>
      <vt:lpstr>Average Rating of Restaurants in each Country:  </vt:lpstr>
      <vt:lpstr>Top 10 Cuisines:  </vt:lpstr>
      <vt:lpstr>Average cost of two INR:  </vt:lpstr>
      <vt:lpstr>Delivery and Table Booking Analysis:</vt:lpstr>
      <vt:lpstr>Recommendations: </vt:lpstr>
      <vt:lpstr> Conclusion: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Pratikshya Priyadarshani Patra</cp:lastModifiedBy>
  <cp:revision>22</cp:revision>
  <dcterms:created xsi:type="dcterms:W3CDTF">2026-02-27T19:39:03Z</dcterms:created>
  <dcterms:modified xsi:type="dcterms:W3CDTF">2026-06-09T07:07:53Z</dcterms:modified>
</cp:coreProperties>
</file>